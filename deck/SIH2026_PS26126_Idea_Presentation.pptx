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anchor="t" lIns="45720" rIns="45720" tIns="18288" bIns="18288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343A40"/>
                </a:solidFill>
                <a:latin typeface="Segoe UI"/>
              </a:rPr>
              <a:t>Problem Statement ID  –  26126</a:t>
            </a:r>
            <a:endParaRPr lang="en-US" dirty="0"/>
          </a:p>
          <a:p>
            <a:pPr algn="l">
              <a:spcBef>
                <a:spcPts val="1200"/>
              </a:spcBef>
              <a:buNone/>
            </a:pPr>
            <a:r>
              <a:rPr sz="1600" b="0">
                <a:solidFill>
                  <a:srgbClr val="343A40"/>
                </a:solidFill>
                <a:latin typeface="Segoe UI"/>
              </a:rPr>
              <a:t>Problem Statement Title  –  Vision Based Autonomous Navigation for Unmanned Ground Vehicle for Outdoor environment</a:t>
            </a:r>
          </a:p>
          <a:p>
            <a:pPr algn="l">
              <a:spcBef>
                <a:spcPts val="1200"/>
              </a:spcBef>
              <a:buNone/>
            </a:pPr>
            <a:r>
              <a:rPr sz="1600" b="0">
                <a:solidFill>
                  <a:srgbClr val="343A40"/>
                </a:solidFill>
                <a:latin typeface="Segoe UI"/>
              </a:rPr>
              <a:t>Theme  –  Smart Automation</a:t>
            </a:r>
          </a:p>
          <a:p>
            <a:pPr algn="l">
              <a:spcBef>
                <a:spcPts val="1200"/>
              </a:spcBef>
              <a:buNone/>
            </a:pPr>
            <a:r>
              <a:rPr sz="1600" b="0">
                <a:solidFill>
                  <a:srgbClr val="343A40"/>
                </a:solidFill>
                <a:latin typeface="Segoe UI"/>
              </a:rPr>
              <a:t>PS Category  –  Software</a:t>
            </a:r>
          </a:p>
          <a:p>
            <a:pPr algn="l">
              <a:spcBef>
                <a:spcPts val="1200"/>
              </a:spcBef>
              <a:buNone/>
            </a:pPr>
            <a:r>
              <a:rPr sz="1600" b="0">
                <a:solidFill>
                  <a:srgbClr val="343A40"/>
                </a:solidFill>
                <a:latin typeface="Segoe UI"/>
              </a:rPr>
              <a:t>Team ID  –  &lt;Team ID&gt;</a:t>
            </a:r>
          </a:p>
          <a:p>
            <a:pPr algn="l">
              <a:spcBef>
                <a:spcPts val="1200"/>
              </a:spcBef>
              <a:buNone/>
            </a:pPr>
            <a:r>
              <a:rPr sz="1600" b="1">
                <a:solidFill>
                  <a:srgbClr val="343A40"/>
                </a:solidFill>
                <a:latin typeface="Segoe UI"/>
              </a:rPr>
              <a:t>Team Name  –  The Vikings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11480" y="5138928"/>
            <a:ext cx="5440680" cy="786384"/>
          </a:xfrm>
          <a:prstGeom prst="roundRect">
            <a:avLst>
              <a:gd name="adj" fmla="val 16000"/>
            </a:avLst>
          </a:prstGeom>
          <a:solidFill>
            <a:srgbClr val="FBF1D9"/>
          </a:solidFill>
          <a:ln w="19050">
            <a:solidFill>
              <a:srgbClr val="D8B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500" b="1">
                <a:solidFill>
                  <a:srgbClr val="8A6410"/>
                </a:solidFill>
                <a:latin typeface="Segoe UI"/>
              </a:rPr>
              <a:t>SIH 2025  GRAND FINALE FINALIST</a:t>
            </a:r>
          </a:p>
          <a:p>
            <a:pPr algn="ctr">
              <a:spcBef>
                <a:spcPts val="300"/>
              </a:spcBef>
              <a:buNone/>
            </a:pPr>
            <a:r>
              <a:rPr sz="1050" b="0">
                <a:solidFill>
                  <a:srgbClr val="5A616B"/>
                </a:solidFill>
                <a:latin typeface="Segoe UI"/>
              </a:rPr>
              <a:t>Team The Vikings — returning to Smart India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28016"/>
            <a:ext cx="1828800" cy="60350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8288" bIns="18288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Segoe UI"/>
              </a:rPr>
              <a:t>THE VIKINGS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274320" y="786384"/>
            <a:ext cx="1828800" cy="274320"/>
          </a:xfrm>
          <a:prstGeom prst="roundRect">
            <a:avLst>
              <a:gd name="adj" fmla="val 40000"/>
            </a:avLst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50" b="1">
                <a:solidFill>
                  <a:srgbClr val="8A6410"/>
                </a:solidFill>
                <a:latin typeface="Segoe UI"/>
              </a:rPr>
              <a:t>SIH 2025 FINALIST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11480" y="1133856"/>
            <a:ext cx="11365992" cy="603504"/>
          </a:xfrm>
          <a:prstGeom prst="roundRect">
            <a:avLst>
              <a:gd name="adj" fmla="val 1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Segoe UI"/>
              </a:rPr>
              <a:t>DRISHTI-UGV  —  a vision-first autonomy module that drives an outdoor UGV from Point A to Point B with no GPS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1865376"/>
            <a:ext cx="5486400" cy="420624"/>
          </a:xfrm>
          <a:prstGeom prst="roundRect">
            <a:avLst>
              <a:gd name="adj" fmla="val 30000"/>
            </a:avLst>
          </a:prstGeom>
          <a:solidFill>
            <a:srgbClr val="E85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291072" y="1865376"/>
            <a:ext cx="5486400" cy="420624"/>
          </a:xfrm>
          <a:prstGeom prst="roundRect">
            <a:avLst>
              <a:gd name="adj" fmla="val 30000"/>
            </a:avLst>
          </a:prstGeom>
          <a:solidFill>
            <a:srgbClr val="34B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Segoe UI"/>
              </a:rPr>
              <a:t>OUR SOLUTION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11480" y="239572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85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1124712" y="2350008"/>
            <a:ext cx="4736592" cy="31089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E8544F"/>
                </a:solidFill>
                <a:latin typeface="Segoe UI"/>
              </a:rPr>
              <a:t>GPS is denied or unreliable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124712" y="2660904"/>
            <a:ext cx="4736592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Tree cover, terrain masking and jamming remove any trusted fix.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11480" y="32004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DE8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1124712" y="3154680"/>
            <a:ext cx="4736592" cy="31089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DE8429"/>
                </a:solidFill>
                <a:latin typeface="Segoe UI"/>
              </a:rPr>
              <a:t>Open ground is not safe ground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1124712" y="3465576"/>
            <a:ext cx="4736592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A ditch, mud patch or slope still reads as free space.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11480" y="400507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C7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1124712" y="3959352"/>
            <a:ext cx="4736592" cy="31089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C79A0B"/>
                </a:solidFill>
                <a:latin typeface="Segoe UI"/>
              </a:rPr>
              <a:t>Obstacles appear after planning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1124712" y="4270248"/>
            <a:ext cx="4736592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People, animals and vehicles cross the path mid-mission.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11480" y="4809744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DC4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1124712" y="4764024"/>
            <a:ext cx="4736592" cy="31089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DC4A96"/>
                </a:solidFill>
                <a:latin typeface="Segoe UI"/>
              </a:rPr>
              <a:t>Vision degrades without warning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1124712" y="5074920"/>
            <a:ext cx="4736592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Glare, shadow and low light silently break a camera-only stack.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6291072" y="239572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34B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7004304" y="2350008"/>
            <a:ext cx="4736592" cy="31089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34B77C"/>
                </a:solidFill>
                <a:latin typeface="Segoe UI"/>
              </a:rPr>
              <a:t>Visual SLAM replaces GPS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7004304" y="2660904"/>
            <a:ext cx="4736592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RTAB-Map fuses stereo and IMU into a drift-bounded pose.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6291072" y="32004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3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7004304" y="3154680"/>
            <a:ext cx="4736592" cy="31089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23A8C4"/>
                </a:solidFill>
                <a:latin typeface="Segoe UI"/>
              </a:rPr>
              <a:t>Terrain is scored, not just occupied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7004304" y="3465576"/>
            <a:ext cx="4736592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Slope, roughness and height variance become real driving cost.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6291072" y="400507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4A8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7004304" y="3959352"/>
            <a:ext cx="4736592" cy="31089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4A86D8"/>
                </a:solidFill>
                <a:latin typeface="Segoe UI"/>
              </a:rPr>
              <a:t>Semantics fused into the costmap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7004304" y="4270248"/>
            <a:ext cx="4736592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YOLO marks mud, water, rock and people; unknown is priced high.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6291072" y="4809744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86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7004304" y="4764024"/>
            <a:ext cx="4736592" cy="310896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8659D6"/>
                </a:solidFill>
                <a:latin typeface="Segoe UI"/>
              </a:rPr>
              <a:t>Safety supervisor outside the AI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7004304" y="5074920"/>
            <a:ext cx="4736592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Deterministic code halts on stale sensors or lost pose.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411480" y="5486400"/>
            <a:ext cx="45720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F2A37"/>
                </a:solidFill>
                <a:latin typeface="Segoe UI"/>
              </a:rPr>
              <a:t>INNOVATION  &amp;  UNIQUENESS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411480" y="5742432"/>
            <a:ext cx="3660648" cy="54864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 w="15875">
            <a:solidFill>
              <a:srgbClr val="86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100" b="1">
                <a:solidFill>
                  <a:srgbClr val="8659D6"/>
                </a:solidFill>
                <a:latin typeface="Segoe UI"/>
              </a:rPr>
              <a:t>Deterministic safety, not learned</a:t>
            </a:r>
          </a:p>
          <a:p>
            <a:pPr algn="ctr">
              <a:spcBef>
                <a:spcPts val="100"/>
              </a:spcBef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The stop decision never depends on model confidence.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4264152" y="5742432"/>
            <a:ext cx="3660648" cy="54864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 w="15875">
            <a:solidFill>
              <a:srgbClr val="23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100" b="1">
                <a:solidFill>
                  <a:srgbClr val="23A8C4"/>
                </a:solidFill>
                <a:latin typeface="Segoe UI"/>
              </a:rPr>
              <a:t>Camera-first, LiDAR-free terrain</a:t>
            </a:r>
          </a:p>
          <a:p>
            <a:pPr algn="ctr">
              <a:spcBef>
                <a:spcPts val="100"/>
              </a:spcBef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Traversability from vision geometry plus semantics.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8116824" y="5742432"/>
            <a:ext cx="3660648" cy="54864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 w="15875">
            <a:solidFill>
              <a:srgbClr val="4A8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100" b="1">
                <a:solidFill>
                  <a:srgbClr val="4A86D8"/>
                </a:solidFill>
                <a:latin typeface="Segoe UI"/>
              </a:rPr>
              <a:t>Proven by simulation at scale</a:t>
            </a:r>
          </a:p>
          <a:p>
            <a:pPr algn="ctr">
              <a:spcBef>
                <a:spcPts val="100"/>
              </a:spcBef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Randomised Isaac Sim missions score it before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28016"/>
            <a:ext cx="1828800" cy="60350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8288" bIns="18288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Segoe UI"/>
              </a:rPr>
              <a:t>THE VIKINGS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74320" y="786384"/>
            <a:ext cx="1828800" cy="274320"/>
          </a:xfrm>
          <a:prstGeom prst="roundRect">
            <a:avLst>
              <a:gd name="adj" fmla="val 40000"/>
            </a:avLst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50" b="1">
                <a:solidFill>
                  <a:srgbClr val="8A6410"/>
                </a:solidFill>
                <a:latin typeface="Segoe UI"/>
              </a:rPr>
              <a:t>SIH 2025 FINALIST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115568"/>
            <a:ext cx="8229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F2A37"/>
                </a:solidFill>
                <a:latin typeface="Segoe UI"/>
              </a:rPr>
              <a:t>PROCESSING PIPELINE  —  camera in, safe velocity out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426464"/>
            <a:ext cx="1417320" cy="969264"/>
          </a:xfrm>
          <a:prstGeom prst="roundRect">
            <a:avLst>
              <a:gd name="adj" fmla="val 16000"/>
            </a:avLst>
          </a:prstGeom>
          <a:solidFill>
            <a:srgbClr val="23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Segoe UI"/>
              </a:rPr>
              <a:t>Stereo Camera
+ IMU</a:t>
            </a:r>
          </a:p>
          <a:p>
            <a:pPr algn="ctr">
              <a:spcBef>
                <a:spcPts val="200"/>
              </a:spcBef>
              <a:buNone/>
            </a:pPr>
            <a:r>
              <a:rPr sz="850" b="0">
                <a:solidFill>
                  <a:srgbClr val="FFFFFF"/>
                </a:solidFill>
                <a:latin typeface="Segoe UI"/>
              </a:rPr>
              <a:t>RGB • depth • inertial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1856231" y="1819655"/>
            <a:ext cx="182880" cy="182880"/>
          </a:xfrm>
          <a:prstGeom prst="rightArrow">
            <a:avLst/>
          </a:prstGeom>
          <a:solidFill>
            <a:srgbClr val="8B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2066544" y="1426464"/>
            <a:ext cx="1417320" cy="969264"/>
          </a:xfrm>
          <a:prstGeom prst="roundRect">
            <a:avLst>
              <a:gd name="adj" fmla="val 16000"/>
            </a:avLst>
          </a:prstGeom>
          <a:solidFill>
            <a:srgbClr val="86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Segoe UI"/>
              </a:rPr>
              <a:t>Perception AI</a:t>
            </a:r>
          </a:p>
          <a:p>
            <a:pPr algn="ctr">
              <a:spcBef>
                <a:spcPts val="200"/>
              </a:spcBef>
              <a:buNone/>
            </a:pPr>
            <a:r>
              <a:rPr sz="850" b="0">
                <a:solidFill>
                  <a:srgbClr val="FFFFFF"/>
                </a:solidFill>
                <a:latin typeface="Segoe UI"/>
              </a:rPr>
              <a:t>YOLO detect + segment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3511296" y="1819655"/>
            <a:ext cx="182880" cy="182880"/>
          </a:xfrm>
          <a:prstGeom prst="rightArrow">
            <a:avLst/>
          </a:prstGeom>
          <a:solidFill>
            <a:srgbClr val="8B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3721608" y="1426464"/>
            <a:ext cx="1417320" cy="969264"/>
          </a:xfrm>
          <a:prstGeom prst="roundRect">
            <a:avLst>
              <a:gd name="adj" fmla="val 16000"/>
            </a:avLst>
          </a:prstGeom>
          <a:solidFill>
            <a:srgbClr val="4A8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Segoe UI"/>
              </a:rPr>
              <a:t>Visual SLAM</a:t>
            </a:r>
          </a:p>
          <a:p>
            <a:pPr algn="ctr">
              <a:spcBef>
                <a:spcPts val="200"/>
              </a:spcBef>
              <a:buNone/>
            </a:pPr>
            <a:r>
              <a:rPr sz="850" b="0">
                <a:solidFill>
                  <a:srgbClr val="FFFFFF"/>
                </a:solidFill>
                <a:latin typeface="Segoe UI"/>
              </a:rPr>
              <a:t>RTAB-Map pose &amp; map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5166360" y="1819655"/>
            <a:ext cx="182880" cy="182880"/>
          </a:xfrm>
          <a:prstGeom prst="rightArrow">
            <a:avLst/>
          </a:prstGeom>
          <a:solidFill>
            <a:srgbClr val="8B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5376672" y="1426464"/>
            <a:ext cx="1417320" cy="969264"/>
          </a:xfrm>
          <a:prstGeom prst="roundRect">
            <a:avLst>
              <a:gd name="adj" fmla="val 16000"/>
            </a:avLst>
          </a:prstGeom>
          <a:solidFill>
            <a:srgbClr val="34B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Segoe UI"/>
              </a:rPr>
              <a:t>Traversability
Costmap</a:t>
            </a:r>
          </a:p>
          <a:p>
            <a:pPr algn="ctr">
              <a:spcBef>
                <a:spcPts val="200"/>
              </a:spcBef>
              <a:buNone/>
            </a:pPr>
            <a:r>
              <a:rPr sz="850" b="0">
                <a:solidFill>
                  <a:srgbClr val="FFFFFF"/>
                </a:solidFill>
                <a:latin typeface="Segoe UI"/>
              </a:rPr>
              <a:t>slope • roughness • class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6821424" y="1819655"/>
            <a:ext cx="182880" cy="182880"/>
          </a:xfrm>
          <a:prstGeom prst="rightArrow">
            <a:avLst/>
          </a:prstGeom>
          <a:solidFill>
            <a:srgbClr val="8B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7031736" y="1426464"/>
            <a:ext cx="1417320" cy="969264"/>
          </a:xfrm>
          <a:prstGeom prst="roundRect">
            <a:avLst>
              <a:gd name="adj" fmla="val 16000"/>
            </a:avLst>
          </a:prstGeom>
          <a:solidFill>
            <a:srgbClr val="DE8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Segoe UI"/>
              </a:rPr>
              <a:t>Nav2 Planner</a:t>
            </a:r>
          </a:p>
          <a:p>
            <a:pPr algn="ctr">
              <a:spcBef>
                <a:spcPts val="200"/>
              </a:spcBef>
              <a:buNone/>
            </a:pPr>
            <a:r>
              <a:rPr sz="850" b="0">
                <a:solidFill>
                  <a:srgbClr val="FFFFFF"/>
                </a:solidFill>
                <a:latin typeface="Segoe UI"/>
              </a:rPr>
              <a:t>global route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8476488" y="1819655"/>
            <a:ext cx="182880" cy="182880"/>
          </a:xfrm>
          <a:prstGeom prst="rightArrow">
            <a:avLst/>
          </a:prstGeom>
          <a:solidFill>
            <a:srgbClr val="8B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8686800" y="1426464"/>
            <a:ext cx="1417320" cy="969264"/>
          </a:xfrm>
          <a:prstGeom prst="roundRect">
            <a:avLst>
              <a:gd name="adj" fmla="val 16000"/>
            </a:avLst>
          </a:prstGeom>
          <a:solidFill>
            <a:srgbClr val="DC4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Segoe UI"/>
              </a:rPr>
              <a:t>MPPI Controller</a:t>
            </a:r>
          </a:p>
          <a:p>
            <a:pPr algn="ctr">
              <a:spcBef>
                <a:spcPts val="200"/>
              </a:spcBef>
              <a:buNone/>
            </a:pPr>
            <a:r>
              <a:rPr sz="850" b="0">
                <a:solidFill>
                  <a:srgbClr val="FFFFFF"/>
                </a:solidFill>
                <a:latin typeface="Segoe UI"/>
              </a:rPr>
              <a:t>local trajectory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10131552" y="1819655"/>
            <a:ext cx="182880" cy="182880"/>
          </a:xfrm>
          <a:prstGeom prst="rightArrow">
            <a:avLst/>
          </a:prstGeom>
          <a:solidFill>
            <a:srgbClr val="8B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10341863" y="1426464"/>
            <a:ext cx="1417320" cy="969264"/>
          </a:xfrm>
          <a:prstGeom prst="roundRect">
            <a:avLst>
              <a:gd name="adj" fmla="val 16000"/>
            </a:avLst>
          </a:prstGeom>
          <a:solidFill>
            <a:srgbClr val="E85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Segoe UI"/>
              </a:rPr>
              <a:t>Safety Supervisor</a:t>
            </a:r>
          </a:p>
          <a:p>
            <a:pPr algn="ctr">
              <a:spcBef>
                <a:spcPts val="200"/>
              </a:spcBef>
              <a:buNone/>
            </a:pPr>
            <a:r>
              <a:rPr sz="850" b="0">
                <a:solidFill>
                  <a:srgbClr val="FFFFFF"/>
                </a:solidFill>
                <a:latin typeface="Segoe UI"/>
              </a:rPr>
              <a:t>veto • slow • stop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11480" y="2432304"/>
            <a:ext cx="11365992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Output: /cmd_vel to the UGV base  •  every block is a ROS 2 node behind a fixed topic and TF contract, so the identical graph runs in simulation and on the real vehicle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11480" y="2743200"/>
            <a:ext cx="8229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F2A37"/>
                </a:solidFill>
                <a:latin typeface="Segoe UI"/>
              </a:rPr>
              <a:t>LANGUAGES, FRAMEWORKS  &amp;  TOOLS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11480" y="3054096"/>
            <a:ext cx="1292733" cy="113385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8" name="Picture 17427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01" y="3163824"/>
            <a:ext cx="469689" cy="475488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457200" y="3675887"/>
            <a:ext cx="1201293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F2A37"/>
                </a:solidFill>
                <a:latin typeface="Segoe UI"/>
              </a:rPr>
              <a:t>Python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57200" y="3895344"/>
            <a:ext cx="1201293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850" b="0">
                <a:solidFill>
                  <a:srgbClr val="5A616B"/>
                </a:solidFill>
                <a:latin typeface="Segoe UI"/>
              </a:rPr>
              <a:t>perception, tooling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1850517" y="3054096"/>
            <a:ext cx="1292733" cy="113385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2" name="Picture 17431" descr="cp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7000" y="3163824"/>
            <a:ext cx="419766" cy="475488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1896237" y="3675887"/>
            <a:ext cx="1201293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F2A37"/>
                </a:solidFill>
                <a:latin typeface="Segoe UI"/>
              </a:rPr>
              <a:t>C++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896237" y="3895344"/>
            <a:ext cx="1201293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850" b="0">
                <a:solidFill>
                  <a:srgbClr val="5A616B"/>
                </a:solidFill>
                <a:latin typeface="Segoe UI"/>
              </a:rPr>
              <a:t>real-time nodes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289554" y="3054096"/>
            <a:ext cx="1292733" cy="113385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6" name="Picture 17435" descr="r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8176" y="3163824"/>
            <a:ext cx="475488" cy="475488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3335274" y="3675887"/>
            <a:ext cx="1201293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F2A37"/>
                </a:solidFill>
                <a:latin typeface="Segoe UI"/>
              </a:rPr>
              <a:t>ROS 2 Jazzy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335274" y="3895344"/>
            <a:ext cx="1201293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850" b="0">
                <a:solidFill>
                  <a:srgbClr val="5A616B"/>
                </a:solidFill>
                <a:latin typeface="Segoe UI"/>
              </a:rPr>
              <a:t>middleware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4728591" y="3054096"/>
            <a:ext cx="1292733" cy="113385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nvid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6010" y="3163824"/>
            <a:ext cx="617893" cy="475488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4774311" y="3675887"/>
            <a:ext cx="1201293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F2A37"/>
                </a:solidFill>
                <a:latin typeface="Segoe UI"/>
              </a:rPr>
              <a:t>Isaac Sim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774311" y="3895344"/>
            <a:ext cx="1201293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850" b="0">
                <a:solidFill>
                  <a:srgbClr val="5A616B"/>
                </a:solidFill>
                <a:latin typeface="Segoe UI"/>
              </a:rPr>
              <a:t>simulation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167628" y="3054096"/>
            <a:ext cx="1292733" cy="113385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4" name="Picture 17443" descr="pyto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6228" y="3298758"/>
            <a:ext cx="835533" cy="205619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6213348" y="3675887"/>
            <a:ext cx="1201293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F2A37"/>
                </a:solidFill>
                <a:latin typeface="Segoe UI"/>
              </a:rPr>
              <a:t>PyTorch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213348" y="3895344"/>
            <a:ext cx="1201293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850" b="0">
                <a:solidFill>
                  <a:srgbClr val="5A616B"/>
                </a:solidFill>
                <a:latin typeface="Segoe UI"/>
              </a:rPr>
              <a:t>model training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7606665" y="3054096"/>
            <a:ext cx="1292733" cy="113385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8" name="Picture 17447" descr="openc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5287" y="3163824"/>
            <a:ext cx="475488" cy="475488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7652385" y="3675887"/>
            <a:ext cx="1201293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F2A37"/>
                </a:solidFill>
                <a:latin typeface="Segoe UI"/>
              </a:rPr>
              <a:t>OpenCV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7652385" y="3895344"/>
            <a:ext cx="1201293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850" b="0">
                <a:solidFill>
                  <a:srgbClr val="5A616B"/>
                </a:solidFill>
                <a:latin typeface="Segoe UI"/>
              </a:rPr>
              <a:t>vision operations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9045702" y="3054096"/>
            <a:ext cx="1292733" cy="113385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2" name="Picture 17451" descr="dock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1596" y="3163824"/>
            <a:ext cx="560944" cy="475488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9091422" y="3675887"/>
            <a:ext cx="1201293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F2A37"/>
                </a:solidFill>
                <a:latin typeface="Segoe UI"/>
              </a:rPr>
              <a:t>Docker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9091422" y="3895344"/>
            <a:ext cx="1201293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850" b="0">
                <a:solidFill>
                  <a:srgbClr val="5A616B"/>
                </a:solidFill>
                <a:latin typeface="Segoe UI"/>
              </a:rPr>
              <a:t>reproducible builds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10484739" y="3054096"/>
            <a:ext cx="1292733" cy="113385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6" name="Picture 17455" descr="ubuntu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93361" y="3163824"/>
            <a:ext cx="475488" cy="475488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10530459" y="3675887"/>
            <a:ext cx="1201293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F2A37"/>
                </a:solidFill>
                <a:latin typeface="Segoe UI"/>
              </a:rPr>
              <a:t>Ubuntu 24.04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10530459" y="3895344"/>
            <a:ext cx="1201293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850" b="0">
                <a:solidFill>
                  <a:srgbClr val="5A616B"/>
                </a:solidFill>
                <a:latin typeface="Segoe UI"/>
              </a:rPr>
              <a:t>target platform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11480" y="4352544"/>
            <a:ext cx="91440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F2A37"/>
                </a:solidFill>
                <a:latin typeface="Segoe UI"/>
              </a:rPr>
              <a:t>IMPLEMENTATION METHODOLOGY  —  simulation-first; every phase ships a runnable artefact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411480" y="4663440"/>
            <a:ext cx="1308735" cy="603504"/>
          </a:xfrm>
          <a:prstGeom prst="roundRect">
            <a:avLst>
              <a:gd name="adj" fmla="val 18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Segoe UI"/>
              </a:rPr>
              <a:t>PHASE 0</a:t>
            </a:r>
          </a:p>
          <a:p>
            <a:pPr algn="ctr"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Segoe UI"/>
              </a:rPr>
              <a:t>Environment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1848231" y="4663440"/>
            <a:ext cx="1308735" cy="603504"/>
          </a:xfrm>
          <a:prstGeom prst="roundRect">
            <a:avLst>
              <a:gd name="adj" fmla="val 18000"/>
            </a:avLst>
          </a:prstGeom>
          <a:solidFill>
            <a:srgbClr val="23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Segoe UI"/>
              </a:rPr>
              <a:t>PHASE 1</a:t>
            </a:r>
          </a:p>
          <a:p>
            <a:pPr algn="ctr"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Segoe UI"/>
              </a:rPr>
              <a:t>Sim navigation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3284982" y="4663440"/>
            <a:ext cx="1308735" cy="603504"/>
          </a:xfrm>
          <a:prstGeom prst="roundRect">
            <a:avLst>
              <a:gd name="adj" fmla="val 18000"/>
            </a:avLst>
          </a:prstGeom>
          <a:solidFill>
            <a:srgbClr val="4A8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Segoe UI"/>
              </a:rPr>
              <a:t>PHASE 2</a:t>
            </a:r>
          </a:p>
          <a:p>
            <a:pPr algn="ctr"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Segoe UI"/>
              </a:rPr>
              <a:t>Visual SLAM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4721733" y="4663440"/>
            <a:ext cx="1308735" cy="603504"/>
          </a:xfrm>
          <a:prstGeom prst="roundRect">
            <a:avLst>
              <a:gd name="adj" fmla="val 18000"/>
            </a:avLst>
          </a:prstGeom>
          <a:solidFill>
            <a:srgbClr val="34B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Segoe UI"/>
              </a:rPr>
              <a:t>PHASE 3</a:t>
            </a:r>
          </a:p>
          <a:p>
            <a:pPr algn="ctr"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Segoe UI"/>
              </a:rPr>
              <a:t>Terrain layer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6158484" y="4663440"/>
            <a:ext cx="1308735" cy="603504"/>
          </a:xfrm>
          <a:prstGeom prst="roundRect">
            <a:avLst>
              <a:gd name="adj" fmla="val 18000"/>
            </a:avLst>
          </a:prstGeom>
          <a:solidFill>
            <a:srgbClr val="86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Segoe UI"/>
              </a:rPr>
              <a:t>PHASE 4</a:t>
            </a:r>
          </a:p>
          <a:p>
            <a:pPr algn="ctr"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Segoe UI"/>
              </a:rPr>
              <a:t>Perception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7595235" y="4663440"/>
            <a:ext cx="1308735" cy="603504"/>
          </a:xfrm>
          <a:prstGeom prst="roundRect">
            <a:avLst>
              <a:gd name="adj" fmla="val 18000"/>
            </a:avLst>
          </a:prstGeom>
          <a:solidFill>
            <a:srgbClr val="E85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Segoe UI"/>
              </a:rPr>
              <a:t>PHASE 5</a:t>
            </a:r>
          </a:p>
          <a:p>
            <a:pPr algn="ctr"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Segoe UI"/>
              </a:rPr>
              <a:t>Safety logic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9031986" y="4663440"/>
            <a:ext cx="1308735" cy="603504"/>
          </a:xfrm>
          <a:prstGeom prst="roundRect">
            <a:avLst>
              <a:gd name="adj" fmla="val 18000"/>
            </a:avLst>
          </a:prstGeom>
          <a:solidFill>
            <a:srgbClr val="DE8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Segoe UI"/>
              </a:rPr>
              <a:t>PHASE 6</a:t>
            </a:r>
          </a:p>
          <a:p>
            <a:pPr algn="ctr"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Segoe UI"/>
              </a:rPr>
              <a:t>1000+ missions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10468737" y="4663440"/>
            <a:ext cx="1308735" cy="603504"/>
          </a:xfrm>
          <a:prstGeom prst="roundRect">
            <a:avLst>
              <a:gd name="adj" fmla="val 18000"/>
            </a:avLst>
          </a:prstGeom>
          <a:solidFill>
            <a:srgbClr val="DC4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Segoe UI"/>
              </a:rPr>
              <a:t>PHASE 7</a:t>
            </a:r>
          </a:p>
          <a:p>
            <a:pPr algn="ctr"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Segoe UI"/>
              </a:rPr>
              <a:t>Hardware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411480" y="5431536"/>
            <a:ext cx="11365992" cy="768096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150" b="1">
                <a:solidFill>
                  <a:srgbClr val="1F2A37"/>
                </a:solidFill>
                <a:latin typeface="Segoe UI"/>
              </a:rPr>
              <a:t>Design principle: the neural network only answers “what am I looking at?”</a:t>
            </a:r>
          </a:p>
          <a:p>
            <a:pPr algn="ctr">
              <a:spcBef>
                <a:spcPts val="300"/>
              </a:spcBef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Coordinate transforms, mapping, planning, control and the stop decision stay in deterministic, auditable code — so a perception failure degrades into a safe halt, never a collision.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28016"/>
            <a:ext cx="1828800" cy="60350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8288" bIns="18288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Segoe UI"/>
              </a:rPr>
              <a:t>THE VIKINGS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74320" y="786384"/>
            <a:ext cx="1828800" cy="274320"/>
          </a:xfrm>
          <a:prstGeom prst="roundRect">
            <a:avLst>
              <a:gd name="adj" fmla="val 40000"/>
            </a:avLst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50" b="1">
                <a:solidFill>
                  <a:srgbClr val="8A6410"/>
                </a:solidFill>
                <a:latin typeface="Segoe UI"/>
              </a:rPr>
              <a:t>SIH 2025 FINALIST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554480"/>
            <a:ext cx="2676906" cy="2834640"/>
          </a:xfrm>
          <a:prstGeom prst="roundRect">
            <a:avLst>
              <a:gd name="adj" fmla="val 10000"/>
            </a:avLst>
          </a:prstGeom>
          <a:solidFill>
            <a:srgbClr val="34B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1429893" y="1207008"/>
            <a:ext cx="640080" cy="640080"/>
          </a:xfrm>
          <a:prstGeom prst="ellipse">
            <a:avLst/>
          </a:prstGeom>
          <a:solidFill>
            <a:srgbClr val="34B77C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Segoe UI"/>
              </a:rPr>
              <a:t>F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57784" y="1956816"/>
            <a:ext cx="2384298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FFFFFF"/>
                </a:solidFill>
                <a:latin typeface="Segoe UI"/>
              </a:rPr>
              <a:t>FEASIBLE TODAY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57784" y="2359152"/>
            <a:ext cx="2384298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Nav2, RTAB-Map and elevation_mapping_cupy are mature ROS 2 packages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Integration and tuning — nothing has to be invented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Simulation-first: development starts with zero hardware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Whole loop runs on one RTX workstation (32 GB RAM, 16 GB VRAM)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07842" y="1554480"/>
            <a:ext cx="2676906" cy="2834640"/>
          </a:xfrm>
          <a:prstGeom prst="roundRect">
            <a:avLst>
              <a:gd name="adj" fmla="val 10000"/>
            </a:avLst>
          </a:prstGeom>
          <a:solidFill>
            <a:srgbClr val="E85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Oval 17415"/>
          <p:cNvSpPr/>
          <p:nvPr/>
        </p:nvSpPr>
        <p:spPr>
          <a:xfrm>
            <a:off x="4326255" y="1207008"/>
            <a:ext cx="640080" cy="640080"/>
          </a:xfrm>
          <a:prstGeom prst="ellipse">
            <a:avLst/>
          </a:prstGeom>
          <a:solidFill>
            <a:srgbClr val="E8544F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454146" y="1956816"/>
            <a:ext cx="2384298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FFFFFF"/>
                </a:solidFill>
                <a:latin typeface="Segoe UI"/>
              </a:rPr>
              <a:t>KEY RISKS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454146" y="2359152"/>
            <a:ext cx="2384298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TF, timestamp and calibration errors — the top failure cause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SLAM drift on featureless or low-texture terrain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A ditch or water surface misread as drivable ground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Simulation-to-reality gap in lighting and texture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204204" y="1554480"/>
            <a:ext cx="2676906" cy="2834640"/>
          </a:xfrm>
          <a:prstGeom prst="roundRect">
            <a:avLst>
              <a:gd name="adj" fmla="val 10000"/>
            </a:avLst>
          </a:prstGeom>
          <a:solidFill>
            <a:srgbClr val="4A8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Oval 17419"/>
          <p:cNvSpPr/>
          <p:nvPr/>
        </p:nvSpPr>
        <p:spPr>
          <a:xfrm>
            <a:off x="7222617" y="1207008"/>
            <a:ext cx="640080" cy="640080"/>
          </a:xfrm>
          <a:prstGeom prst="ellipse">
            <a:avLst/>
          </a:prstGeom>
          <a:solidFill>
            <a:srgbClr val="4A86D8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50508" y="1956816"/>
            <a:ext cx="2384298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FFFFFF"/>
                </a:solidFill>
                <a:latin typeface="Segoe UI"/>
              </a:rPr>
              <a:t>MITIGATION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350508" y="2359152"/>
            <a:ext cx="2384298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Validate the TF tree and clock sync before any AI work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Stereo + IMU fusion, speed limits, automatic re-localisation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Unknown terrain is priced expensive, never free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Domain randomisation over light, texture, noise and obstacles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100566" y="1554480"/>
            <a:ext cx="2676906" cy="2834640"/>
          </a:xfrm>
          <a:prstGeom prst="roundRect">
            <a:avLst>
              <a:gd name="adj" fmla="val 10000"/>
            </a:avLst>
          </a:prstGeom>
          <a:solidFill>
            <a:srgbClr val="DE8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10118979" y="1207008"/>
            <a:ext cx="640080" cy="640080"/>
          </a:xfrm>
          <a:prstGeom prst="ellipse">
            <a:avLst/>
          </a:prstGeom>
          <a:solidFill>
            <a:srgbClr val="DE8429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246870" y="1956816"/>
            <a:ext cx="2384298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FFFFFF"/>
                </a:solidFill>
                <a:latin typeface="Segoe UI"/>
              </a:rPr>
              <a:t>VIABILITY BEYOND SIH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246870" y="2359152"/>
            <a:ext cx="2384298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Identical ROS 2 topic and TF contract, simulation and vehicle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Only sensor driver and motor interface change on hardware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Profiles down to a Jetson-class edge computer</a:t>
            </a:r>
          </a:p>
          <a:p>
            <a:pPr algn="l">
              <a:spcBef>
                <a:spcPts val="800"/>
              </a:spcBef>
              <a:buNone/>
            </a:pPr>
            <a:r>
              <a:rPr sz="1000" b="0">
                <a:solidFill>
                  <a:srgbClr val="FFFFFF"/>
                </a:solidFill>
                <a:latin typeface="Segoe UI"/>
              </a:rPr>
              <a:t>•  Reusable across BEL surveillance and logistics platforms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11480" y="4572000"/>
            <a:ext cx="100584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F2A37"/>
                </a:solidFill>
                <a:latin typeface="Segoe UI"/>
              </a:rPr>
              <a:t>ACCEPTANCE GATES  —  what we will measure, instead of claiming “100% accuracy”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11480" y="4882896"/>
            <a:ext cx="1757172" cy="987552"/>
          </a:xfrm>
          <a:prstGeom prst="roundRect">
            <a:avLst>
              <a:gd name="adj" fmla="val 14000"/>
            </a:avLst>
          </a:prstGeom>
          <a:solidFill>
            <a:srgbClr val="F4F6F8"/>
          </a:solidFill>
          <a:ln w="15875">
            <a:solidFill>
              <a:srgbClr val="34B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1">
                <a:solidFill>
                  <a:srgbClr val="34B77C"/>
                </a:solidFill>
                <a:latin typeface="Segoe UI"/>
              </a:rPr>
              <a:t>≥ 95%</a:t>
            </a:r>
          </a:p>
          <a:p>
            <a:pPr algn="ctr">
              <a:spcBef>
                <a:spcPts val="300"/>
              </a:spcBef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collision-free
randomised missions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2333244" y="4882896"/>
            <a:ext cx="1757172" cy="987552"/>
          </a:xfrm>
          <a:prstGeom prst="roundRect">
            <a:avLst>
              <a:gd name="adj" fmla="val 14000"/>
            </a:avLst>
          </a:prstGeom>
          <a:solidFill>
            <a:srgbClr val="F4F6F8"/>
          </a:solidFill>
          <a:ln w="15875">
            <a:solidFill>
              <a:srgbClr val="23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1">
                <a:solidFill>
                  <a:srgbClr val="23A8C4"/>
                </a:solidFill>
                <a:latin typeface="Segoe UI"/>
              </a:rPr>
              <a:t>&lt; 2%</a:t>
            </a:r>
          </a:p>
          <a:p>
            <a:pPr algn="ctr">
              <a:spcBef>
                <a:spcPts val="300"/>
              </a:spcBef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localisation drift
over distance travelled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255008" y="4882896"/>
            <a:ext cx="1757172" cy="987552"/>
          </a:xfrm>
          <a:prstGeom prst="roundRect">
            <a:avLst>
              <a:gd name="adj" fmla="val 14000"/>
            </a:avLst>
          </a:prstGeom>
          <a:solidFill>
            <a:srgbClr val="F4F6F8"/>
          </a:solidFill>
          <a:ln w="15875">
            <a:solidFill>
              <a:srgbClr val="4A8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1">
                <a:solidFill>
                  <a:srgbClr val="4A86D8"/>
                </a:solidFill>
                <a:latin typeface="Segoe UI"/>
              </a:rPr>
              <a:t>&lt; 200 ms</a:t>
            </a:r>
          </a:p>
          <a:p>
            <a:pPr algn="ctr">
              <a:spcBef>
                <a:spcPts val="300"/>
              </a:spcBef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emergency-stop
software response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176772" y="4882896"/>
            <a:ext cx="1757172" cy="987552"/>
          </a:xfrm>
          <a:prstGeom prst="roundRect">
            <a:avLst>
              <a:gd name="adj" fmla="val 14000"/>
            </a:avLst>
          </a:prstGeom>
          <a:solidFill>
            <a:srgbClr val="F4F6F8"/>
          </a:solidFill>
          <a:ln w="15875">
            <a:solidFill>
              <a:srgbClr val="865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1">
                <a:solidFill>
                  <a:srgbClr val="8659D6"/>
                </a:solidFill>
                <a:latin typeface="Segoe UI"/>
              </a:rPr>
              <a:t>≤ 100 ms</a:t>
            </a:r>
          </a:p>
          <a:p>
            <a:pPr algn="ctr">
              <a:spcBef>
                <a:spcPts val="300"/>
              </a:spcBef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perception
latency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098536" y="4882896"/>
            <a:ext cx="1757172" cy="987552"/>
          </a:xfrm>
          <a:prstGeom prst="roundRect">
            <a:avLst>
              <a:gd name="adj" fmla="val 14000"/>
            </a:avLst>
          </a:prstGeom>
          <a:solidFill>
            <a:srgbClr val="F4F6F8"/>
          </a:solidFill>
          <a:ln w="15875">
            <a:solidFill>
              <a:srgbClr val="DE8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1">
                <a:solidFill>
                  <a:srgbClr val="DE8429"/>
                </a:solidFill>
                <a:latin typeface="Segoe UI"/>
              </a:rPr>
              <a:t>≥ 20 Hz</a:t>
            </a:r>
          </a:p>
          <a:p>
            <a:pPr algn="ctr">
              <a:spcBef>
                <a:spcPts val="300"/>
              </a:spcBef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control loop
rate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10020300" y="4882896"/>
            <a:ext cx="1757172" cy="987552"/>
          </a:xfrm>
          <a:prstGeom prst="roundRect">
            <a:avLst>
              <a:gd name="adj" fmla="val 14000"/>
            </a:avLst>
          </a:prstGeom>
          <a:solidFill>
            <a:srgbClr val="F4F6F8"/>
          </a:solidFill>
          <a:ln w="15875">
            <a:solidFill>
              <a:srgbClr val="DC4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1">
                <a:solidFill>
                  <a:srgbClr val="DC4A96"/>
                </a:solidFill>
                <a:latin typeface="Segoe UI"/>
              </a:rPr>
              <a:t>≥ 97%</a:t>
            </a:r>
          </a:p>
          <a:p>
            <a:pPr algn="ctr">
              <a:spcBef>
                <a:spcPts val="300"/>
              </a:spcBef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goal completion
rate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11480" y="5925312"/>
            <a:ext cx="11365992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950" b="0">
                <a:solidFill>
                  <a:srgbClr val="8B9099"/>
                </a:solidFill>
                <a:latin typeface="Segoe UI"/>
              </a:rPr>
              <a:t>Every gate is scored automatically from rosbag2 logs against Isaac Sim ground truth, so the numbers are reproducible rather than asserted.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28016"/>
            <a:ext cx="1828800" cy="60350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8288" bIns="18288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Segoe UI"/>
              </a:rPr>
              <a:t>THE VIKINGS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74320" y="786384"/>
            <a:ext cx="1828800" cy="274320"/>
          </a:xfrm>
          <a:prstGeom prst="roundRect">
            <a:avLst>
              <a:gd name="adj" fmla="val 40000"/>
            </a:avLst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50" b="1">
                <a:solidFill>
                  <a:srgbClr val="8A6410"/>
                </a:solidFill>
                <a:latin typeface="Segoe UI"/>
              </a:rPr>
              <a:t>SIH 2025 FINALIST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4956048" y="2249424"/>
            <a:ext cx="2286000" cy="228600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Segoe UI"/>
              </a:rPr>
              <a:t>DRISHTI-UGV</a:t>
            </a:r>
          </a:p>
          <a:p>
            <a:pPr algn="ctr">
              <a:spcBef>
                <a:spcPts val="500"/>
              </a:spcBef>
              <a:buNone/>
            </a:pPr>
            <a:r>
              <a:rPr sz="1050" b="0">
                <a:solidFill>
                  <a:srgbClr val="C8CED6"/>
                </a:solidFill>
                <a:latin typeface="Segoe UI"/>
              </a:rPr>
              <a:t>vision-first
GPS-denied
autonomy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4709160" y="1673352"/>
            <a:ext cx="118872" cy="0"/>
          </a:xfrm>
          <a:prstGeom prst="line">
            <a:avLst/>
          </a:prstGeom>
          <a:ln w="12700">
            <a:solidFill>
              <a:srgbClr val="8B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>
            <a:off x="4709160" y="3044952"/>
            <a:ext cx="118872" cy="0"/>
          </a:xfrm>
          <a:prstGeom prst="line">
            <a:avLst/>
          </a:prstGeom>
          <a:ln w="12700">
            <a:solidFill>
              <a:srgbClr val="8B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17413"/>
          <p:cNvCxnSpPr/>
          <p:nvPr/>
        </p:nvCxnSpPr>
        <p:spPr>
          <a:xfrm>
            <a:off x="4709160" y="4416551"/>
            <a:ext cx="118872" cy="0"/>
          </a:xfrm>
          <a:prstGeom prst="line">
            <a:avLst/>
          </a:prstGeom>
          <a:ln w="12700">
            <a:solidFill>
              <a:srgbClr val="8B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5" name="Connector 17414"/>
          <p:cNvCxnSpPr/>
          <p:nvPr/>
        </p:nvCxnSpPr>
        <p:spPr>
          <a:xfrm>
            <a:off x="4828032" y="1673352"/>
            <a:ext cx="0" cy="2743199"/>
          </a:xfrm>
          <a:prstGeom prst="line">
            <a:avLst/>
          </a:prstGeom>
          <a:ln w="12700">
            <a:solidFill>
              <a:srgbClr val="8B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6" name="Connector 17415"/>
          <p:cNvCxnSpPr/>
          <p:nvPr/>
        </p:nvCxnSpPr>
        <p:spPr>
          <a:xfrm>
            <a:off x="4828032" y="3392424"/>
            <a:ext cx="128016" cy="0"/>
          </a:xfrm>
          <a:prstGeom prst="line">
            <a:avLst/>
          </a:prstGeom>
          <a:ln w="12700">
            <a:solidFill>
              <a:srgbClr val="8B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7" name="Connector 17416"/>
          <p:cNvCxnSpPr/>
          <p:nvPr/>
        </p:nvCxnSpPr>
        <p:spPr>
          <a:xfrm flipH="1">
            <a:off x="7360920" y="1673352"/>
            <a:ext cx="118872" cy="0"/>
          </a:xfrm>
          <a:prstGeom prst="line">
            <a:avLst/>
          </a:prstGeom>
          <a:ln w="12700">
            <a:solidFill>
              <a:srgbClr val="8B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 flipH="1">
            <a:off x="7360920" y="3044952"/>
            <a:ext cx="118872" cy="0"/>
          </a:xfrm>
          <a:prstGeom prst="line">
            <a:avLst/>
          </a:prstGeom>
          <a:ln w="12700">
            <a:solidFill>
              <a:srgbClr val="8B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 flipH="1">
            <a:off x="7360920" y="4416551"/>
            <a:ext cx="118872" cy="0"/>
          </a:xfrm>
          <a:prstGeom prst="line">
            <a:avLst/>
          </a:prstGeom>
          <a:ln w="12700">
            <a:solidFill>
              <a:srgbClr val="8B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7360920" y="1673352"/>
            <a:ext cx="0" cy="2743199"/>
          </a:xfrm>
          <a:prstGeom prst="line">
            <a:avLst/>
          </a:prstGeom>
          <a:ln w="12700">
            <a:solidFill>
              <a:srgbClr val="8B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7242048" y="3392424"/>
            <a:ext cx="118872" cy="0"/>
          </a:xfrm>
          <a:prstGeom prst="line">
            <a:avLst/>
          </a:prstGeom>
          <a:ln w="12700">
            <a:solidFill>
              <a:srgbClr val="8B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Oval 17421"/>
          <p:cNvSpPr/>
          <p:nvPr/>
        </p:nvSpPr>
        <p:spPr>
          <a:xfrm>
            <a:off x="4398264" y="1517904"/>
            <a:ext cx="310896" cy="310896"/>
          </a:xfrm>
          <a:prstGeom prst="ellipse">
            <a:avLst/>
          </a:prstGeom>
          <a:solidFill>
            <a:srgbClr val="DE8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411480" y="1389888"/>
            <a:ext cx="389534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DE8429"/>
                </a:solidFill>
                <a:latin typeface="Segoe UI"/>
              </a:rPr>
              <a:t>DEFENCE  &amp;  BEL PLATFORMS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11480" y="1737360"/>
            <a:ext cx="3895344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Reconnaissance, patrol and resupply in jammed or GPS-denied terrain.</a:t>
            </a:r>
          </a:p>
        </p:txBody>
      </p:sp>
      <p:sp>
        <p:nvSpPr>
          <p:cNvPr id="17425" name="Oval 17424"/>
          <p:cNvSpPr/>
          <p:nvPr/>
        </p:nvSpPr>
        <p:spPr>
          <a:xfrm>
            <a:off x="4398264" y="2889504"/>
            <a:ext cx="310896" cy="310896"/>
          </a:xfrm>
          <a:prstGeom prst="ellipse">
            <a:avLst/>
          </a:prstGeom>
          <a:solidFill>
            <a:srgbClr val="E85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411480" y="2761488"/>
            <a:ext cx="389534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E8544F"/>
                </a:solidFill>
                <a:latin typeface="Segoe UI"/>
              </a:rPr>
              <a:t>SEARCH  &amp;  RESCUE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11480" y="3108960"/>
            <a:ext cx="3895344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Entry into collapsed or flooded zones where GPS and comms have failed.</a:t>
            </a:r>
          </a:p>
        </p:txBody>
      </p:sp>
      <p:sp>
        <p:nvSpPr>
          <p:cNvPr id="17428" name="Oval 17427"/>
          <p:cNvSpPr/>
          <p:nvPr/>
        </p:nvSpPr>
        <p:spPr>
          <a:xfrm>
            <a:off x="4398264" y="4261103"/>
            <a:ext cx="310896" cy="310896"/>
          </a:xfrm>
          <a:prstGeom prst="ellipse">
            <a:avLst/>
          </a:prstGeom>
          <a:solidFill>
            <a:srgbClr val="34B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411480" y="4133087"/>
            <a:ext cx="389534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34B77C"/>
                </a:solidFill>
                <a:latin typeface="Segoe UI"/>
              </a:rPr>
              <a:t>AGRICULTURE  &amp;  SURVEY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11480" y="4480559"/>
            <a:ext cx="3895344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Crop-row navigation and field inspection without RTK base stations.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7479792" y="1517904"/>
            <a:ext cx="310896" cy="310896"/>
          </a:xfrm>
          <a:prstGeom prst="ellipse">
            <a:avLst/>
          </a:prstGeom>
          <a:solidFill>
            <a:srgbClr val="4A8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882127" y="1389888"/>
            <a:ext cx="389534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4A86D8"/>
                </a:solidFill>
                <a:latin typeface="Segoe UI"/>
              </a:rPr>
              <a:t>COST  &amp;  IMPORT SUBSTITUTION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882127" y="1737360"/>
            <a:ext cx="3895344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Cameras replace an expensive LiDAR; the stack is owned in-country.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7479792" y="2889504"/>
            <a:ext cx="310896" cy="310896"/>
          </a:xfrm>
          <a:prstGeom prst="ellipse">
            <a:avLst/>
          </a:prstGeom>
          <a:solidFill>
            <a:srgbClr val="86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7882127" y="2761488"/>
            <a:ext cx="389534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8659D6"/>
                </a:solidFill>
                <a:latin typeface="Segoe UI"/>
              </a:rPr>
              <a:t>SAFETY BY DESIGN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882127" y="3108960"/>
            <a:ext cx="3895344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A deterministic supervisor halts the vehicle before a failure becomes a collision.</a:t>
            </a:r>
          </a:p>
        </p:txBody>
      </p:sp>
      <p:sp>
        <p:nvSpPr>
          <p:cNvPr id="17437" name="Oval 17436"/>
          <p:cNvSpPr/>
          <p:nvPr/>
        </p:nvSpPr>
        <p:spPr>
          <a:xfrm>
            <a:off x="7479792" y="4261103"/>
            <a:ext cx="310896" cy="310896"/>
          </a:xfrm>
          <a:prstGeom prst="ellipse">
            <a:avLst/>
          </a:prstGeom>
          <a:solidFill>
            <a:srgbClr val="DC4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882127" y="4133087"/>
            <a:ext cx="389534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DC4A96"/>
                </a:solidFill>
                <a:latin typeface="Segoe UI"/>
              </a:rPr>
              <a:t>ONE REUSABLE PLATFORM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882127" y="4480559"/>
            <a:ext cx="3895344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16B"/>
                </a:solidFill>
                <a:latin typeface="Segoe UI"/>
              </a:rPr>
              <a:t>The same ROS 2 contract retargets to delivery, mining and inspection UGVs.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11480" y="5449824"/>
            <a:ext cx="11365992" cy="768096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150" b="1">
                <a:solidFill>
                  <a:srgbClr val="1F2A37"/>
                </a:solidFill>
                <a:latin typeface="Segoe UI"/>
              </a:rPr>
              <a:t>Measured, not claimed.</a:t>
            </a:r>
          </a:p>
          <a:p>
            <a:pPr algn="ctr">
              <a:spcBef>
                <a:spcPts val="300"/>
              </a:spcBef>
              <a:buNone/>
            </a:pPr>
            <a:r>
              <a:rPr sz="950" b="0">
                <a:solidFill>
                  <a:srgbClr val="5A616B"/>
                </a:solidFill>
                <a:latin typeface="Segoe UI"/>
              </a:rPr>
              <a:t>Every benefit above is backed by a mission-level number — collision-free completion rate, localisation error against simulator ground truth, path efficiency, recovery rate and emergency-stop latency.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28016"/>
            <a:ext cx="1828800" cy="60350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8288" bIns="18288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Segoe UI"/>
              </a:rPr>
              <a:t>THE VIKINGS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74320" y="786384"/>
            <a:ext cx="1828800" cy="274320"/>
          </a:xfrm>
          <a:prstGeom prst="roundRect">
            <a:avLst>
              <a:gd name="adj" fmla="val 40000"/>
            </a:avLst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850" b="1">
                <a:solidFill>
                  <a:srgbClr val="8A6410"/>
                </a:solidFill>
                <a:latin typeface="Segoe UI"/>
              </a:rPr>
              <a:t>SIH 2025 FINALIST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298448"/>
            <a:ext cx="3642360" cy="1700784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298448"/>
            <a:ext cx="3642360" cy="365760"/>
          </a:xfrm>
          <a:prstGeom prst="roundRect">
            <a:avLst>
              <a:gd name="adj" fmla="val 28000"/>
            </a:avLst>
          </a:prstGeom>
          <a:solidFill>
            <a:srgbClr val="4A8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</a:rPr>
              <a:t>NAVIGATION  &amp;  CONTROL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21208" y="1737360"/>
            <a:ext cx="3422904" cy="12070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•  ros-navigation / navigation2 — planners, costmaps, behaviour trees</a:t>
            </a:r>
          </a:p>
          <a:p>
            <a:pPr algn="l">
              <a:spcBef>
                <a:spcPts val="7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•  Nav2 MPPI controller — sampling-based predictive local control</a:t>
            </a:r>
          </a:p>
          <a:p>
            <a:pPr algn="l">
              <a:spcBef>
                <a:spcPts val="7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•  sacrover / traversability-nav2 — outdoor traversability costmap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73296" y="1298448"/>
            <a:ext cx="3642360" cy="1700784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273296" y="1298448"/>
            <a:ext cx="3642360" cy="365760"/>
          </a:xfrm>
          <a:prstGeom prst="roundRect">
            <a:avLst>
              <a:gd name="adj" fmla="val 28000"/>
            </a:avLst>
          </a:prstGeom>
          <a:solidFill>
            <a:srgbClr val="34B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</a:rPr>
              <a:t>VISUAL LOCALISATION  &amp;  SLAM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383024" y="1737360"/>
            <a:ext cx="3422904" cy="12070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•  introlab / rtabmap_ros — ROS 2 stereo and RGB-D SLAM with Nav2</a:t>
            </a:r>
          </a:p>
          <a:p>
            <a:pPr algn="l">
              <a:spcBef>
                <a:spcPts val="7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•  UZ-SLAMLab / ORB_SLAM3 — visual-inertial benchmark (GPLv3)</a:t>
            </a:r>
          </a:p>
          <a:p>
            <a:pPr algn="l">
              <a:spcBef>
                <a:spcPts val="7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•  LARIAD / Offroad-Nav — closest end-to-end off-road reference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35112" y="1298448"/>
            <a:ext cx="3642360" cy="1700784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8135112" y="1298448"/>
            <a:ext cx="3642360" cy="365760"/>
          </a:xfrm>
          <a:prstGeom prst="roundRect">
            <a:avLst>
              <a:gd name="adj" fmla="val 28000"/>
            </a:avLst>
          </a:prstGeom>
          <a:solidFill>
            <a:srgbClr val="DE8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</a:rPr>
              <a:t>TERRAIN  &amp;  PERCEPTION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244839" y="1737360"/>
            <a:ext cx="3422904" cy="12070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•  leggedrobotics / elevation_mapping_cupy — GPU elevation layers</a:t>
            </a:r>
          </a:p>
          <a:p>
            <a:pPr algn="l">
              <a:spcBef>
                <a:spcPts val="7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•  ultralytics — detection and segmentation models (licence reviewed)</a:t>
            </a:r>
          </a:p>
          <a:p>
            <a:pPr algn="l">
              <a:spcBef>
                <a:spcPts val="7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•  DepthAnything / Depth-Anything-V2 — monocular depth fallback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11480" y="3145536"/>
            <a:ext cx="8229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F2A37"/>
                </a:solidFill>
                <a:latin typeface="Segoe UI"/>
              </a:rPr>
              <a:t>SOURCE LINKS  &amp;  OFFICIAL DOCUMENTATION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11480" y="3456432"/>
            <a:ext cx="54864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557784" y="3547872"/>
            <a:ext cx="5193792" cy="14264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›  Nav2 framework  —  github.com/ros-navigation/navigation2</a:t>
            </a:r>
          </a:p>
          <a:p>
            <a:pPr algn="l">
              <a:spcBef>
                <a:spcPts val="9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›  RTAB-Map ROS 2  —  github.com/introlab/rtabmap_ros</a:t>
            </a:r>
          </a:p>
          <a:p>
            <a:pPr algn="l">
              <a:spcBef>
                <a:spcPts val="9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›  Elevation Mapping CuPy  —  github.com/leggedrobotics/elevation_mapping_cupy</a:t>
            </a:r>
          </a:p>
          <a:p>
            <a:pPr algn="l">
              <a:spcBef>
                <a:spcPts val="9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›  Traversability Nav2  —  github.com/sacrover/traversability-nav2</a:t>
            </a:r>
          </a:p>
          <a:p>
            <a:pPr algn="l">
              <a:spcBef>
                <a:spcPts val="9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›  Offroad-Nav reference  —  github.com/LARIAD/Offroad-Nav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291072" y="3456432"/>
            <a:ext cx="54864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6437376" y="3547872"/>
            <a:ext cx="5193792" cy="14264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›  Isaac Sim ROS 2 bridge  —  docs.isaacsim.omniverse.nvidia.com</a:t>
            </a:r>
          </a:p>
          <a:p>
            <a:pPr algn="l">
              <a:spcBef>
                <a:spcPts val="9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›  Isaac Sim workspaces  —  github.com/isaac-sim/IsaacSim-ros_workspaces</a:t>
            </a:r>
          </a:p>
          <a:p>
            <a:pPr algn="l">
              <a:spcBef>
                <a:spcPts val="9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›  Ultralytics YOLO  —  github.com/ultralytics/ultralytics</a:t>
            </a:r>
          </a:p>
          <a:p>
            <a:pPr algn="l">
              <a:spcBef>
                <a:spcPts val="9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›  Depth Anything V2  —  github.com/DepthAnything/Depth-Anything-V2</a:t>
            </a:r>
          </a:p>
          <a:p>
            <a:pPr algn="l">
              <a:spcBef>
                <a:spcPts val="900"/>
              </a:spcBef>
              <a:buNone/>
            </a:pPr>
            <a:r>
              <a:rPr sz="950" b="0">
                <a:solidFill>
                  <a:srgbClr val="343A40"/>
                </a:solidFill>
                <a:latin typeface="Segoe UI"/>
              </a:rPr>
              <a:t>›  Open3D  —  github.com/isl-org/Open3D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11480" y="5175504"/>
            <a:ext cx="3666744" cy="713232"/>
          </a:xfrm>
          <a:prstGeom prst="roundRect">
            <a:avLst>
              <a:gd name="adj" fmla="val 14000"/>
            </a:avLst>
          </a:prstGeom>
          <a:solidFill>
            <a:srgbClr val="F4F6F8"/>
          </a:solidFill>
          <a:ln w="15875">
            <a:solidFill>
              <a:srgbClr val="34B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050" b="1">
                <a:solidFill>
                  <a:srgbClr val="34B77C"/>
                </a:solidFill>
                <a:latin typeface="Segoe UI"/>
              </a:rPr>
              <a:t>MIT / BSD / Apache-2.0</a:t>
            </a:r>
          </a:p>
          <a:p>
            <a:pPr algn="ctr">
              <a:spcBef>
                <a:spcPts val="300"/>
              </a:spcBef>
              <a:buNone/>
            </a:pPr>
            <a:r>
              <a:rPr sz="900" b="0">
                <a:solidFill>
                  <a:srgbClr val="5A616B"/>
                </a:solidFill>
                <a:latin typeface="Segoe UI"/>
              </a:rPr>
              <a:t>Nav2, RTAB-Map, elevation_mapping_cupy, Offroad-Nav, Open3D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261104" y="5175504"/>
            <a:ext cx="3666744" cy="713232"/>
          </a:xfrm>
          <a:prstGeom prst="roundRect">
            <a:avLst>
              <a:gd name="adj" fmla="val 14000"/>
            </a:avLst>
          </a:prstGeom>
          <a:solidFill>
            <a:srgbClr val="F4F6F8"/>
          </a:solidFill>
          <a:ln w="15875">
            <a:solidFill>
              <a:srgbClr val="C79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050" b="1">
                <a:solidFill>
                  <a:srgbClr val="C79A0B"/>
                </a:solidFill>
                <a:latin typeface="Segoe UI"/>
              </a:rPr>
              <a:t>Licence-reviewed before use</a:t>
            </a:r>
          </a:p>
          <a:p>
            <a:pPr algn="ctr">
              <a:spcBef>
                <a:spcPts val="300"/>
              </a:spcBef>
              <a:buNone/>
            </a:pPr>
            <a:r>
              <a:rPr sz="900" b="0">
                <a:solidFill>
                  <a:srgbClr val="5A616B"/>
                </a:solidFill>
                <a:latin typeface="Segoe UI"/>
              </a:rPr>
              <a:t>Ultralytics and Depth Anything V2 Small — terms checked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110728" y="5175504"/>
            <a:ext cx="3666744" cy="713232"/>
          </a:xfrm>
          <a:prstGeom prst="roundRect">
            <a:avLst>
              <a:gd name="adj" fmla="val 14000"/>
            </a:avLst>
          </a:prstGeom>
          <a:solidFill>
            <a:srgbClr val="F4F6F8"/>
          </a:solidFill>
          <a:ln w="15875">
            <a:solidFill>
              <a:srgbClr val="E85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050" b="1">
                <a:solidFill>
                  <a:srgbClr val="E8544F"/>
                </a:solidFill>
                <a:latin typeface="Segoe UI"/>
              </a:rPr>
              <a:t>Excluded from the shipped build</a:t>
            </a:r>
          </a:p>
          <a:p>
            <a:pPr algn="ctr">
              <a:spcBef>
                <a:spcPts val="300"/>
              </a:spcBef>
              <a:buNone/>
            </a:pPr>
            <a:r>
              <a:rPr sz="900" b="0">
                <a:solidFill>
                  <a:srgbClr val="5A616B"/>
                </a:solidFill>
                <a:latin typeface="Segoe UI"/>
              </a:rPr>
              <a:t>ORB-SLAM3 (GPLv3) used only as an offline benchmark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11480" y="5943600"/>
            <a:ext cx="11365992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8B9099"/>
                </a:solidFill>
                <a:latin typeface="Segoe UI"/>
              </a:rPr>
              <a:t>Licence position screened per component before integration; every third-party notice is preserved in the delivered repository.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